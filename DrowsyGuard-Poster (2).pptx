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</p:sldIdLst>
  <p:sldSz cy="8505825" cx="15116175"/>
  <p:notesSz cx="8505825" cy="15116175"/>
  <p:embeddedFontLst>
    <p:embeddedFont>
      <p:font typeface="Lexend ExtraBold"/>
      <p:bold r:id="rId6"/>
    </p:embeddedFont>
    <p:embeddedFont>
      <p:font typeface="Lexend SemiBold"/>
      <p:regular r:id="rId7"/>
      <p:bold r:id="rId8"/>
    </p:embeddedFont>
    <p:embeddedFont>
      <p:font typeface="JetBrains Mono SemiBold"/>
      <p:regular r:id="rId9"/>
      <p:bold r:id="rId10"/>
      <p:italic r:id="rId11"/>
      <p:boldItalic r:id="rId12"/>
    </p:embeddedFont>
    <p:embeddedFont>
      <p:font typeface="JetBrains Mono ExtraBold"/>
      <p:bold r:id="rId13"/>
      <p:boldItalic r:id="rId14"/>
    </p:embeddedFont>
    <p:embeddedFont>
      <p:font typeface="Lexend Medium"/>
      <p:regular r:id="rId15"/>
      <p:bold r:id="rId16"/>
    </p:embeddedFont>
    <p:embeddedFont>
      <p:font typeface="Helvetica Neue"/>
      <p:regular r:id="rId17"/>
      <p:bold r:id="rId18"/>
      <p:italic r:id="rId19"/>
      <p:boldItalic r:id="rId20"/>
    </p:embeddedFont>
    <p:embeddedFont>
      <p:font typeface="Lexend"/>
      <p:regular r:id="rId21"/>
      <p:bold r:id="rId22"/>
    </p:embeddedFont>
    <p:embeddedFont>
      <p:font typeface="JetBrains Mon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boldItalic.fntdata"/><Relationship Id="rId22" Type="http://schemas.openxmlformats.org/officeDocument/2006/relationships/font" Target="fonts/Lexend-bold.fntdata"/><Relationship Id="rId21" Type="http://schemas.openxmlformats.org/officeDocument/2006/relationships/font" Target="fonts/Lexend-regular.fntdata"/><Relationship Id="rId24" Type="http://schemas.openxmlformats.org/officeDocument/2006/relationships/font" Target="fonts/JetBrainsMono-bold.fntdata"/><Relationship Id="rId23" Type="http://schemas.openxmlformats.org/officeDocument/2006/relationships/font" Target="fonts/JetBrainsMono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JetBrainsMonoSemiBold-regular.fntdata"/><Relationship Id="rId26" Type="http://schemas.openxmlformats.org/officeDocument/2006/relationships/font" Target="fonts/JetBrainsMono-boldItalic.fntdata"/><Relationship Id="rId25" Type="http://schemas.openxmlformats.org/officeDocument/2006/relationships/font" Target="fonts/JetBrainsMono-italic.fntdata"/><Relationship Id="rId5" Type="http://schemas.openxmlformats.org/officeDocument/2006/relationships/slide" Target="slides/slide1.xml"/><Relationship Id="rId6" Type="http://schemas.openxmlformats.org/officeDocument/2006/relationships/font" Target="fonts/LexendExtraBold-bold.fntdata"/><Relationship Id="rId7" Type="http://schemas.openxmlformats.org/officeDocument/2006/relationships/font" Target="fonts/LexendSemiBold-regular.fntdata"/><Relationship Id="rId8" Type="http://schemas.openxmlformats.org/officeDocument/2006/relationships/font" Target="fonts/LexendSemiBold-bold.fntdata"/><Relationship Id="rId11" Type="http://schemas.openxmlformats.org/officeDocument/2006/relationships/font" Target="fonts/JetBrainsMonoSemiBold-italic.fntdata"/><Relationship Id="rId10" Type="http://schemas.openxmlformats.org/officeDocument/2006/relationships/font" Target="fonts/JetBrainsMonoSemiBold-bold.fntdata"/><Relationship Id="rId13" Type="http://schemas.openxmlformats.org/officeDocument/2006/relationships/font" Target="fonts/JetBrainsMonoExtraBold-bold.fntdata"/><Relationship Id="rId12" Type="http://schemas.openxmlformats.org/officeDocument/2006/relationships/font" Target="fonts/JetBrainsMonoSemiBold-boldItalic.fntdata"/><Relationship Id="rId15" Type="http://schemas.openxmlformats.org/officeDocument/2006/relationships/font" Target="fonts/LexendMedium-regular.fntdata"/><Relationship Id="rId14" Type="http://schemas.openxmlformats.org/officeDocument/2006/relationships/font" Target="fonts/JetBrainsMonoExtraBold-boldItalic.fntdata"/><Relationship Id="rId17" Type="http://schemas.openxmlformats.org/officeDocument/2006/relationships/font" Target="fonts/HelveticaNeue-regular.fntdata"/><Relationship Id="rId16" Type="http://schemas.openxmlformats.org/officeDocument/2006/relationships/font" Target="fonts/LexendMedium-bold.fntdata"/><Relationship Id="rId19" Type="http://schemas.openxmlformats.org/officeDocument/2006/relationships/font" Target="fonts/HelveticaNeue-italic.fntdata"/><Relationship Id="rId18" Type="http://schemas.openxmlformats.org/officeDocument/2006/relationships/font" Target="fonts/HelveticaNeue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2.png"/><Relationship Id="rId10" Type="http://schemas.openxmlformats.org/officeDocument/2006/relationships/image" Target="../media/image7.png"/><Relationship Id="rId13" Type="http://schemas.openxmlformats.org/officeDocument/2006/relationships/image" Target="../media/image1.png"/><Relationship Id="rId1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9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8.png"/><Relationship Id="rId7" Type="http://schemas.openxmlformats.org/officeDocument/2006/relationships/image" Target="../media/image3.png"/><Relationship Id="rId8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DF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3947575" y="4669000"/>
            <a:ext cx="3904800" cy="3470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7" name="Google Shape;17;p3"/>
          <p:cNvSpPr/>
          <p:nvPr/>
        </p:nvSpPr>
        <p:spPr>
          <a:xfrm>
            <a:off x="25" y="25"/>
            <a:ext cx="15116100" cy="743700"/>
          </a:xfrm>
          <a:prstGeom prst="roundRect">
            <a:avLst>
              <a:gd fmla="val 5000" name="adj"/>
            </a:avLst>
          </a:prstGeom>
          <a:solidFill>
            <a:srgbClr val="C9DAF8"/>
          </a:solidFill>
          <a:ln>
            <a:noFill/>
          </a:ln>
        </p:spPr>
        <p:txBody>
          <a:bodyPr anchorCtr="0" anchor="ctr" bIns="47200" lIns="47200" spcFirstLastPara="1" rIns="47200" wrap="square" tIns="47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pic>
        <p:nvPicPr>
          <p:cNvPr descr="preencoded.png" id="18" name="Google Shape;18;p3"/>
          <p:cNvPicPr preferRelativeResize="0"/>
          <p:nvPr/>
        </p:nvPicPr>
        <p:blipFill rotWithShape="1">
          <a:blip r:embed="rId3">
            <a:alphaModFix/>
          </a:blip>
          <a:srcRect b="0" l="-5" r="-5" t="0"/>
          <a:stretch/>
        </p:blipFill>
        <p:spPr>
          <a:xfrm>
            <a:off x="148763" y="82039"/>
            <a:ext cx="632176" cy="579675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/>
          <p:nvPr/>
        </p:nvSpPr>
        <p:spPr>
          <a:xfrm>
            <a:off x="925757" y="80619"/>
            <a:ext cx="30480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13125" lIns="13125" spcFirstLastPara="1" rIns="13125" wrap="square" tIns="13125">
            <a:noAutofit/>
          </a:bodyPr>
          <a:lstStyle/>
          <a:p>
            <a:pPr indent="0" lvl="0" marL="0" marR="0" rtl="0" algn="l">
              <a:lnSpc>
                <a:spcPct val="8648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79"/>
              <a:buFont typeface="Helvetica Neue"/>
              <a:buNone/>
            </a:pPr>
            <a:r>
              <a:rPr i="0" lang="en-US" sz="2579" u="none" cap="none" strike="noStrike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DrowsyGuard</a:t>
            </a:r>
            <a:endParaRPr i="0" sz="2579" u="none" cap="none" strike="noStrike">
              <a:solidFill>
                <a:schemeClr val="dk1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943725" y="432000"/>
            <a:ext cx="3002100" cy="1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125" lIns="13125" spcFirstLastPara="1" rIns="13125" wrap="square" tIns="13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3"/>
              <a:buFont typeface="Helvetica Neue"/>
              <a:buNone/>
            </a:pPr>
            <a:r>
              <a:rPr i="0" lang="en-US" sz="923" u="none" cap="none" strike="noStrike">
                <a:solidFill>
                  <a:schemeClr val="dk1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On-device driver drowsiness detection with vehicle-side intervention</a:t>
            </a:r>
            <a:endParaRPr i="0" sz="923" u="none" cap="none" strike="noStrike">
              <a:solidFill>
                <a:schemeClr val="dk1"/>
              </a:solidFill>
              <a:latin typeface="JetBrains Mono SemiBold"/>
              <a:ea typeface="JetBrains Mono SemiBold"/>
              <a:cs typeface="JetBrains Mono SemiBold"/>
              <a:sym typeface="JetBrains Mono SemiBold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3997623" y="115707"/>
            <a:ext cx="5100" cy="520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7200" lIns="47200" spcFirstLastPara="1" rIns="47200" wrap="square" tIns="47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2" name="Google Shape;22;p3"/>
          <p:cNvSpPr/>
          <p:nvPr/>
        </p:nvSpPr>
        <p:spPr>
          <a:xfrm>
            <a:off x="4129133" y="289044"/>
            <a:ext cx="26805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3125" lIns="13125" spcFirstLastPara="1" rIns="13125" wrap="square" tIns="13125">
            <a:noAutofit/>
          </a:bodyPr>
          <a:lstStyle/>
          <a:p>
            <a:pPr indent="0" lvl="0" marL="0" marR="0" rtl="0" algn="l">
              <a:lnSpc>
                <a:spcPct val="11946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6"/>
              <a:buFont typeface="Helvetica Neue"/>
              <a:buNone/>
            </a:pPr>
            <a:r>
              <a:rPr i="0" lang="en-US" sz="1326" u="none" cap="none" strike="noStrike">
                <a:solidFill>
                  <a:schemeClr val="dk1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rPr>
              <a:t>Team ML_IoT_Love50</a:t>
            </a:r>
            <a:endParaRPr i="0" sz="1326" u="none" cap="none" strike="noStrike">
              <a:solidFill>
                <a:schemeClr val="dk1"/>
              </a:solidFill>
              <a:latin typeface="JetBrains Mono ExtraBold"/>
              <a:ea typeface="JetBrains Mono ExtraBold"/>
              <a:cs typeface="JetBrains Mono ExtraBold"/>
              <a:sym typeface="JetBrains Mono ExtraBold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4118550" y="50300"/>
            <a:ext cx="6013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3125" lIns="13125" spcFirstLastPara="1" rIns="13125" wrap="square" tIns="13125">
            <a:noAutofit/>
          </a:bodyPr>
          <a:lstStyle/>
          <a:p>
            <a:pPr indent="0" lvl="0" marL="0" marR="0" rtl="0" algn="l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"/>
              <a:buFont typeface="Helvetica Neue"/>
              <a:buNone/>
            </a:pPr>
            <a:r>
              <a:rPr i="0" lang="en-US" sz="1620" u="none" cap="none" strike="noStrike">
                <a:solidFill>
                  <a:schemeClr val="dk1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rPr>
              <a:t>Qualcomm Future Makers — Hack The Challenge 2026</a:t>
            </a:r>
            <a:endParaRPr i="0" sz="1620" u="none" cap="none" strike="noStrike">
              <a:solidFill>
                <a:schemeClr val="dk1"/>
              </a:solidFill>
              <a:latin typeface="JetBrains Mono ExtraBold"/>
              <a:ea typeface="JetBrains Mono ExtraBold"/>
              <a:cs typeface="JetBrains Mono ExtraBold"/>
              <a:sym typeface="JetBrains Mono ExtraBold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4137123" y="505750"/>
            <a:ext cx="62574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13125" lIns="13125" spcFirstLastPara="1" rIns="13125" wrap="square" tIns="13125">
            <a:noAutofit/>
          </a:bodyPr>
          <a:lstStyle/>
          <a:p>
            <a:pPr indent="0" lvl="0" marL="0" marR="0" rtl="0" algn="l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"/>
              <a:buFont typeface="Helvetica Neue"/>
              <a:buNone/>
            </a:pPr>
            <a:r>
              <a:rPr i="0" lang="en-US" sz="1120" u="none" cap="none" strike="noStrike">
                <a:solidFill>
                  <a:schemeClr val="dk1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Ho Chi Minh City University of Technology - Vietnam National University</a:t>
            </a:r>
            <a:endParaRPr i="0" sz="1120" u="none" cap="none" strike="noStrike">
              <a:solidFill>
                <a:schemeClr val="dk1"/>
              </a:solidFill>
              <a:latin typeface="JetBrains Mono SemiBold"/>
              <a:ea typeface="JetBrains Mono SemiBold"/>
              <a:cs typeface="JetBrains Mono SemiBold"/>
              <a:sym typeface="JetBrains Mono SemiBold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11165150" y="226450"/>
            <a:ext cx="24708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3125" lIns="13125" spcFirstLastPara="1" rIns="13125" wrap="square" tIns="13125">
            <a:noAutofit/>
          </a:bodyPr>
          <a:lstStyle/>
          <a:p>
            <a:pPr indent="0" lvl="0" marL="0" marR="0" rtl="0" algn="r">
              <a:lnSpc>
                <a:spcPct val="11809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"/>
              <a:buFont typeface="JetBrains Mono"/>
              <a:buNone/>
            </a:pPr>
            <a:r>
              <a:rPr b="1" i="0" lang="en-US" sz="82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ARDUINO UNO Q · QRB2210 · DEBIAN LINUX</a:t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12483551" y="386175"/>
            <a:ext cx="11733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3125" lIns="13125" spcFirstLastPara="1" rIns="13125" wrap="square" tIns="13125">
            <a:noAutofit/>
          </a:bodyPr>
          <a:lstStyle/>
          <a:p>
            <a:pPr indent="0" lvl="0" marL="0" marR="0" rtl="0" algn="ctr">
              <a:lnSpc>
                <a:spcPct val="11809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"/>
              <a:buFont typeface="JetBrains Mono"/>
              <a:buNone/>
            </a:pPr>
            <a:r>
              <a:rPr b="1" i="0" lang="en-US" sz="82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MODEL: YOLOX-NANO </a:t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35675" y="798150"/>
            <a:ext cx="3869100" cy="7587900"/>
          </a:xfrm>
          <a:prstGeom prst="roundRect">
            <a:avLst>
              <a:gd fmla="val 5701" name="adj"/>
            </a:avLst>
          </a:prstGeom>
          <a:solidFill>
            <a:srgbClr val="C9DAF8"/>
          </a:solidFill>
          <a:ln>
            <a:noFill/>
          </a:ln>
        </p:spPr>
        <p:txBody>
          <a:bodyPr anchorCtr="0" anchor="ctr" bIns="47200" lIns="47200" spcFirstLastPara="1" rIns="47200" wrap="square" tIns="47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111558" y="1022689"/>
            <a:ext cx="3681600" cy="4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7200" lIns="47200" spcFirstLastPara="1" rIns="47200" wrap="square" tIns="47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9" name="Google Shape;29;p3"/>
          <p:cNvSpPr/>
          <p:nvPr/>
        </p:nvSpPr>
        <p:spPr>
          <a:xfrm>
            <a:off x="111550" y="837072"/>
            <a:ext cx="3792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13125" lIns="13125" spcFirstLastPara="1" rIns="13125" wrap="square" tIns="13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97"/>
              <a:buFont typeface="Helvetica Neue"/>
              <a:buNone/>
            </a:pPr>
            <a:r>
              <a:rPr i="0" lang="en-US" sz="1097" u="none" cap="none" strike="noStrike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PROPOSAL</a:t>
            </a:r>
            <a:endParaRPr i="0" sz="1097" u="none" cap="none" strike="noStrike">
              <a:solidFill>
                <a:schemeClr val="dk1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111550" y="1059592"/>
            <a:ext cx="37509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3125" lIns="13125" spcFirstLastPara="1" rIns="13125" wrap="square" tIns="131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94"/>
              <a:buFont typeface="Helvetica Neue"/>
              <a:buNone/>
            </a:pPr>
            <a:r>
              <a:rPr lang="en-US" sz="794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- </a:t>
            </a:r>
            <a:r>
              <a:rPr lang="en-US" sz="794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D</a:t>
            </a:r>
            <a:r>
              <a:rPr i="0" lang="en-US" sz="794" u="none" cap="none" strike="noStrike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rowsy driving is detected on the driver's face and corrected in the vehicle. </a:t>
            </a:r>
            <a:endParaRPr i="0" sz="794" u="none" cap="none" strike="noStrike"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94"/>
              <a:buFont typeface="Helvetica Neue"/>
              <a:buNone/>
            </a:pPr>
            <a:r>
              <a:rPr i="0" lang="en-US" sz="794" u="none" cap="none" strike="noStrike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- DrowsyGuard splits those two jobs across one CAN bus.</a:t>
            </a:r>
            <a:endParaRPr i="0" sz="794" u="none" cap="none" strike="noStrike"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113675" y="1488317"/>
            <a:ext cx="37488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3125" lIns="13125" spcFirstLastPara="1" rIns="13125" wrap="square" tIns="13125">
            <a:noAutofit/>
          </a:bodyPr>
          <a:lstStyle/>
          <a:p>
            <a:pPr indent="0" lvl="0" marL="0" marR="0" rtl="0" algn="just">
              <a:lnSpc>
                <a:spcPct val="1181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2"/>
              <a:buFont typeface="Helvetica Neue"/>
              <a:buNone/>
            </a:pPr>
            <a:r>
              <a:rPr lang="en-US" sz="75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- </a:t>
            </a:r>
            <a:r>
              <a:rPr i="0" lang="en-US" sz="750" u="none" cap="none" strike="noStrike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The DMS (Arduino UNO Q + driver-facing camera) runs a YOLOX detector on-device and fuses three signs of drowsiness into a four-level alert ladder. </a:t>
            </a:r>
            <a:endParaRPr i="0" sz="750" u="none" cap="none" strike="noStrike"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0" marR="0" rtl="0" algn="just">
              <a:lnSpc>
                <a:spcPct val="1181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2"/>
              <a:buFont typeface="Helvetica Neue"/>
              <a:buNone/>
            </a:pPr>
            <a:r>
              <a:rPr lang="en-US" sz="75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- </a:t>
            </a:r>
            <a:r>
              <a:rPr i="0" lang="en-US" sz="750" u="none" cap="none" strike="noStrike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The VCS (NXP FRDM-MCXN947, four-motor scale vehicle) reads only that level: </a:t>
            </a:r>
            <a:r>
              <a:rPr i="1" lang="en-US" sz="750" u="none" cap="none" strike="noStrike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caps speed, escalates alerts, and safe-stops at the top level.</a:t>
            </a:r>
            <a:endParaRPr i="1" sz="750" u="none" cap="none" strike="noStrike"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grpSp>
        <p:nvGrpSpPr>
          <p:cNvPr id="32" name="Google Shape;32;p3"/>
          <p:cNvGrpSpPr/>
          <p:nvPr/>
        </p:nvGrpSpPr>
        <p:grpSpPr>
          <a:xfrm>
            <a:off x="111550" y="2044536"/>
            <a:ext cx="3792000" cy="189850"/>
            <a:chOff x="111550" y="2000480"/>
            <a:chExt cx="3792000" cy="189850"/>
          </a:xfrm>
        </p:grpSpPr>
        <p:sp>
          <p:nvSpPr>
            <p:cNvPr id="33" name="Google Shape;33;p3"/>
            <p:cNvSpPr/>
            <p:nvPr/>
          </p:nvSpPr>
          <p:spPr>
            <a:xfrm>
              <a:off x="111558" y="2185530"/>
              <a:ext cx="3681600" cy="48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7200" lIns="47200" spcFirstLastPara="1" rIns="47200" wrap="square" tIns="47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111550" y="2000480"/>
              <a:ext cx="3792000" cy="16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125" lIns="13125" spcFirstLastPara="1" rIns="13125" wrap="square" tIns="13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97"/>
                <a:buFont typeface="Helvetica Neue"/>
                <a:buNone/>
              </a:pPr>
              <a:r>
                <a:rPr i="0" lang="en-US" sz="1097" u="none" cap="none" strike="noStrike">
                  <a:solidFill>
                    <a:schemeClr val="dk1"/>
                  </a:solidFill>
                  <a:latin typeface="Lexend ExtraBold"/>
                  <a:ea typeface="Lexend ExtraBold"/>
                  <a:cs typeface="Lexend ExtraBold"/>
                  <a:sym typeface="Lexend ExtraBold"/>
                </a:rPr>
                <a:t>PRODUCT FEATURES / VALUES</a:t>
              </a:r>
              <a:endParaRPr i="0" sz="1097" u="none" cap="none" strike="noStrike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endParaRPr>
            </a:p>
          </p:txBody>
        </p:sp>
      </p:grpSp>
      <p:grpSp>
        <p:nvGrpSpPr>
          <p:cNvPr id="35" name="Google Shape;35;p3"/>
          <p:cNvGrpSpPr/>
          <p:nvPr/>
        </p:nvGrpSpPr>
        <p:grpSpPr>
          <a:xfrm>
            <a:off x="111558" y="2271912"/>
            <a:ext cx="4037893" cy="826635"/>
            <a:chOff x="111558" y="2243732"/>
            <a:chExt cx="4037893" cy="826635"/>
          </a:xfrm>
        </p:grpSpPr>
        <p:sp>
          <p:nvSpPr>
            <p:cNvPr id="36" name="Google Shape;36;p3"/>
            <p:cNvSpPr/>
            <p:nvPr/>
          </p:nvSpPr>
          <p:spPr>
            <a:xfrm>
              <a:off x="117170" y="2243732"/>
              <a:ext cx="695400" cy="12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125" lIns="13125" spcFirstLastPara="1" rIns="13125" wrap="square" tIns="13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45"/>
                <a:buFont typeface="JetBrains Mono"/>
                <a:buNone/>
              </a:pPr>
              <a:r>
                <a:rPr b="1" i="0" lang="en-US" sz="750" u="none" cap="none" strike="noStrike">
                  <a:solidFill>
                    <a:schemeClr val="dk1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≤ </a:t>
              </a:r>
              <a:r>
                <a:rPr b="1" lang="en-US" sz="750">
                  <a:solidFill>
                    <a:schemeClr val="dk1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1000</a:t>
              </a:r>
              <a:r>
                <a:rPr b="1" i="0" lang="en-US" sz="750" u="none" cap="none" strike="noStrike">
                  <a:solidFill>
                    <a:schemeClr val="dk1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ms</a:t>
              </a:r>
              <a:endParaRPr b="0" i="0" sz="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856350" y="2263410"/>
              <a:ext cx="3293100" cy="10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125" lIns="13125" spcFirstLastPara="1" rIns="13125" wrap="square" tIns="13125">
              <a:noAutofit/>
            </a:bodyPr>
            <a:lstStyle/>
            <a:p>
              <a:pPr indent="0" lvl="0" marL="0" marR="0" rtl="0"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542"/>
                <a:buFont typeface="Helvetica Neue"/>
                <a:buNone/>
              </a:pPr>
              <a:r>
                <a:rPr i="0" lang="en-US" sz="750" u="none" cap="none" strike="noStrike">
                  <a:solidFill>
                    <a:schemeClr val="dk1"/>
                  </a:solidFill>
                  <a:latin typeface="Lexend SemiBold"/>
                  <a:ea typeface="Lexend SemiBold"/>
                  <a:cs typeface="Lexend SemiBold"/>
                  <a:sym typeface="Lexend SemiBold"/>
                </a:rPr>
                <a:t>Photon to actuator, 95th percentile</a:t>
              </a:r>
              <a:endParaRPr i="0" sz="750" u="none" cap="none" strike="noStrike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endParaRPr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111558" y="2381713"/>
              <a:ext cx="695400" cy="12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125" lIns="13125" spcFirstLastPara="1" rIns="13125" wrap="square" tIns="13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45"/>
                <a:buFont typeface="JetBrains Mono"/>
                <a:buNone/>
              </a:pPr>
              <a:r>
                <a:rPr b="1" i="0" lang="en-US" sz="750" u="none" cap="none" strike="noStrike">
                  <a:solidFill>
                    <a:schemeClr val="dk1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≥ </a:t>
              </a:r>
              <a:r>
                <a:rPr b="1" lang="en-US" sz="750">
                  <a:solidFill>
                    <a:schemeClr val="dk1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5</a:t>
              </a:r>
              <a:r>
                <a:rPr b="1" i="0" lang="en-US" sz="750" u="none" cap="none" strike="noStrike">
                  <a:solidFill>
                    <a:schemeClr val="dk1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FPS</a:t>
              </a:r>
              <a:endParaRPr b="0" i="0" sz="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856350" y="2401391"/>
              <a:ext cx="3293100" cy="10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125" lIns="13125" spcFirstLastPara="1" rIns="13125" wrap="square" tIns="13125">
              <a:noAutofit/>
            </a:bodyPr>
            <a:lstStyle/>
            <a:p>
              <a:pPr indent="0" lvl="0" marL="0" marR="0" rtl="0"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542"/>
                <a:buFont typeface="Helvetica Neue"/>
                <a:buNone/>
              </a:pPr>
              <a:r>
                <a:rPr i="0" lang="en-US" sz="750" u="none" cap="none" strike="noStrike">
                  <a:solidFill>
                    <a:schemeClr val="dk1"/>
                  </a:solidFill>
                  <a:latin typeface="Lexend SemiBold"/>
                  <a:ea typeface="Lexend SemiBold"/>
                  <a:cs typeface="Lexend SemiBold"/>
                  <a:sym typeface="Lexend SemiBold"/>
                </a:rPr>
                <a:t>Sustained inference on-device</a:t>
              </a:r>
              <a:endParaRPr i="0" sz="750" u="none" cap="none" strike="noStrike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endParaRPr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111558" y="2525647"/>
              <a:ext cx="695400" cy="12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125" lIns="13125" spcFirstLastPara="1" rIns="13125" wrap="square" tIns="13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45"/>
                <a:buFont typeface="JetBrains Mono"/>
                <a:buNone/>
              </a:pPr>
              <a:r>
                <a:rPr b="1" i="0" lang="en-US" sz="750" u="none" cap="none" strike="noStrike">
                  <a:solidFill>
                    <a:schemeClr val="dk1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3 domains</a:t>
              </a:r>
              <a:endParaRPr b="0" i="0" sz="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856350" y="2539373"/>
              <a:ext cx="3293100" cy="10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125" lIns="13125" spcFirstLastPara="1" rIns="13125" wrap="square" tIns="13125">
              <a:noAutofit/>
            </a:bodyPr>
            <a:lstStyle/>
            <a:p>
              <a:pPr indent="0" lvl="0" marL="0" marR="0" rtl="0"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542"/>
                <a:buFont typeface="Helvetica Neue"/>
                <a:buNone/>
              </a:pPr>
              <a:r>
                <a:rPr i="0" lang="en-US" sz="750" u="none" cap="none" strike="noStrike">
                  <a:solidFill>
                    <a:schemeClr val="dk1"/>
                  </a:solidFill>
                  <a:latin typeface="Lexend SemiBold"/>
                  <a:ea typeface="Lexend SemiBold"/>
                  <a:cs typeface="Lexend SemiBold"/>
                  <a:sym typeface="Lexend SemiBold"/>
                </a:rPr>
                <a:t>Distraction, yawning, eye closure</a:t>
              </a:r>
              <a:endParaRPr i="0" sz="750" u="none" cap="none" strike="noStrike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endParaRPr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111558" y="2657675"/>
              <a:ext cx="695400" cy="12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125" lIns="13125" spcFirstLastPara="1" rIns="13125" wrap="square" tIns="13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45"/>
                <a:buFont typeface="JetBrains Mono"/>
                <a:buNone/>
              </a:pPr>
              <a:r>
                <a:rPr b="1" i="0" lang="en-US" sz="750" u="none" cap="none" strike="noStrike">
                  <a:solidFill>
                    <a:schemeClr val="dk1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0 bytes</a:t>
              </a:r>
              <a:endParaRPr b="0" i="0" sz="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856350" y="2677354"/>
              <a:ext cx="3293100" cy="10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125" lIns="13125" spcFirstLastPara="1" rIns="13125" wrap="square" tIns="13125">
              <a:noAutofit/>
            </a:bodyPr>
            <a:lstStyle/>
            <a:p>
              <a:pPr indent="0" lvl="0" marL="0" marR="0" rtl="0"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542"/>
                <a:buFont typeface="Helvetica Neue"/>
                <a:buNone/>
              </a:pPr>
              <a:r>
                <a:rPr i="0" lang="en-US" sz="750" u="none" cap="none" strike="noStrike">
                  <a:solidFill>
                    <a:schemeClr val="dk1"/>
                  </a:solidFill>
                  <a:latin typeface="Lexend SemiBold"/>
                  <a:ea typeface="Lexend SemiBold"/>
                  <a:cs typeface="Lexend SemiBold"/>
                  <a:sym typeface="Lexend SemiBold"/>
                </a:rPr>
                <a:t>Image data ever leaving the node</a:t>
              </a:r>
              <a:endParaRPr i="0" sz="750" u="none" cap="none" strike="noStrike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endParaRPr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111558" y="2795656"/>
              <a:ext cx="695400" cy="12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125" lIns="13125" spcFirstLastPara="1" rIns="13125" wrap="square" tIns="13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45"/>
                <a:buFont typeface="JetBrains Mono"/>
                <a:buNone/>
              </a:pPr>
              <a:r>
                <a:rPr b="1" i="0" lang="en-US" sz="750" u="none" cap="none" strike="noStrike">
                  <a:solidFill>
                    <a:schemeClr val="dk1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2.0 s</a:t>
              </a:r>
              <a:endParaRPr b="0" i="0" sz="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856350" y="2815335"/>
              <a:ext cx="3293100" cy="10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125" lIns="13125" spcFirstLastPara="1" rIns="13125" wrap="square" tIns="13125">
              <a:noAutofit/>
            </a:bodyPr>
            <a:lstStyle/>
            <a:p>
              <a:pPr indent="0" lvl="0" marL="0" marR="0" rtl="0"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542"/>
                <a:buFont typeface="Helvetica Neue"/>
                <a:buNone/>
              </a:pPr>
              <a:r>
                <a:rPr i="0" lang="en-US" sz="750" u="none" cap="none" strike="noStrike">
                  <a:solidFill>
                    <a:schemeClr val="dk1"/>
                  </a:solidFill>
                  <a:latin typeface="Lexend SemiBold"/>
                  <a:ea typeface="Lexend SemiBold"/>
                  <a:cs typeface="Lexend SemiBold"/>
                  <a:sym typeface="Lexend SemiBold"/>
                </a:rPr>
                <a:t>Safe-stop ramp, ± 0.1 s</a:t>
              </a:r>
              <a:endParaRPr i="0" sz="750" u="none" cap="none" strike="noStrike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endParaRPr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111558" y="2942567"/>
              <a:ext cx="695400" cy="12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125" lIns="13125" spcFirstLastPara="1" rIns="13125" wrap="square" tIns="13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45"/>
                <a:buFont typeface="JetBrains Mono"/>
                <a:buNone/>
              </a:pPr>
              <a:r>
                <a:rPr b="1" i="0" lang="en-US" sz="750" u="none" cap="none" strike="noStrike">
                  <a:solidFill>
                    <a:schemeClr val="dk1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≤ 1 / hour</a:t>
              </a:r>
              <a:endParaRPr b="0" i="0" sz="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856350" y="2953316"/>
              <a:ext cx="3293100" cy="10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125" lIns="13125" spcFirstLastPara="1" rIns="13125" wrap="square" tIns="13125">
              <a:noAutofit/>
            </a:bodyPr>
            <a:lstStyle/>
            <a:p>
              <a:pPr indent="0" lvl="0" marL="0" marR="0" rtl="0"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542"/>
                <a:buFont typeface="Helvetica Neue"/>
                <a:buNone/>
              </a:pPr>
              <a:r>
                <a:rPr i="0" lang="en-US" sz="750" u="none" cap="none" strike="noStrike">
                  <a:solidFill>
                    <a:schemeClr val="dk1"/>
                  </a:solidFill>
                  <a:latin typeface="Lexend SemiBold"/>
                  <a:ea typeface="Lexend SemiBold"/>
                  <a:cs typeface="Lexend SemiBold"/>
                  <a:sym typeface="Lexend SemiBold"/>
                </a:rPr>
                <a:t>False alarms on an awake driver</a:t>
              </a:r>
              <a:endParaRPr i="0" sz="750" u="none" cap="none" strike="noStrike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endParaRPr>
            </a:p>
          </p:txBody>
        </p:sp>
      </p:grpSp>
      <p:sp>
        <p:nvSpPr>
          <p:cNvPr id="48" name="Google Shape;48;p3"/>
          <p:cNvSpPr/>
          <p:nvPr/>
        </p:nvSpPr>
        <p:spPr>
          <a:xfrm>
            <a:off x="111558" y="3310568"/>
            <a:ext cx="3681599" cy="49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7200" lIns="47200" spcFirstLastPara="1" rIns="47200" wrap="square" tIns="47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49" name="Google Shape;49;p3"/>
          <p:cNvSpPr/>
          <p:nvPr/>
        </p:nvSpPr>
        <p:spPr>
          <a:xfrm>
            <a:off x="111558" y="3130254"/>
            <a:ext cx="3792000" cy="1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13125" lIns="13125" spcFirstLastPara="1" rIns="13125" wrap="square" tIns="13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97"/>
              <a:buFont typeface="Helvetica Neue"/>
              <a:buNone/>
            </a:pPr>
            <a:r>
              <a:rPr lang="en-US" sz="1097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HARDWARE COMPONENTS</a:t>
            </a:r>
            <a:endParaRPr sz="1097">
              <a:solidFill>
                <a:schemeClr val="dk1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111558" y="3348926"/>
            <a:ext cx="634200" cy="1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125" lIns="13125" spcFirstLastPara="1" rIns="13125" wrap="square" tIns="13125">
            <a:noAutofit/>
          </a:bodyPr>
          <a:lstStyle/>
          <a:p>
            <a:pPr indent="0" lvl="0" marL="0" marR="0" rtl="0" algn="l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2"/>
              <a:buFont typeface="Helvetica Neue"/>
              <a:buNone/>
            </a:pPr>
            <a:r>
              <a:rPr b="1" i="0" lang="en-US" sz="75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DMS node</a:t>
            </a:r>
            <a:endParaRPr b="1" i="0" sz="750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845594" y="3348925"/>
            <a:ext cx="2868900" cy="1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125" lIns="13125" spcFirstLastPara="1" rIns="13125" wrap="square" tIns="13125">
            <a:noAutofit/>
          </a:bodyPr>
          <a:lstStyle/>
          <a:p>
            <a:pPr indent="0" lvl="0" marL="0" marR="0" rtl="0" algn="l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2"/>
              <a:buFont typeface="Helvetica Neue"/>
              <a:buNone/>
            </a:pPr>
            <a:r>
              <a:rPr i="0" lang="en-US" sz="750" u="none" cap="none" strike="noStrike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Arduino UNO Q — Dragonwing QRB2210 + STM32U585</a:t>
            </a:r>
            <a:endParaRPr i="0" sz="750" u="none" cap="none" strike="noStrike"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111558" y="3480643"/>
            <a:ext cx="634200" cy="1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125" lIns="13125" spcFirstLastPara="1" rIns="13125" wrap="square" tIns="13125">
            <a:noAutofit/>
          </a:bodyPr>
          <a:lstStyle/>
          <a:p>
            <a:pPr indent="0" lvl="0" marL="0" marR="0" rtl="0" algn="l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2"/>
              <a:buFont typeface="Helvetica Neue"/>
              <a:buNone/>
            </a:pPr>
            <a:r>
              <a:rPr b="1" i="0" lang="en-US" sz="75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Camera</a:t>
            </a:r>
            <a:endParaRPr b="1" i="0" sz="750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845604" y="3480643"/>
            <a:ext cx="3333900" cy="1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125" lIns="13125" spcFirstLastPara="1" rIns="13125" wrap="square" tIns="13125">
            <a:noAutofit/>
          </a:bodyPr>
          <a:lstStyle/>
          <a:p>
            <a:pPr indent="0" lvl="0" marL="0" marR="0" rtl="0" algn="l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2"/>
              <a:buFont typeface="Helvetica Neue"/>
              <a:buNone/>
            </a:pPr>
            <a:r>
              <a:rPr i="0" lang="en-US" sz="750" u="none" cap="none" strike="noStrike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Driver-facing RGB + IR illuminator, 5 – 50 000 lux</a:t>
            </a:r>
            <a:endParaRPr i="0" sz="750" u="none" cap="none" strike="noStrike"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111558" y="3612361"/>
            <a:ext cx="634200" cy="1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125" lIns="13125" spcFirstLastPara="1" rIns="13125" wrap="square" tIns="13125">
            <a:noAutofit/>
          </a:bodyPr>
          <a:lstStyle/>
          <a:p>
            <a:pPr indent="0" lvl="0" marL="0" marR="0" rtl="0" algn="l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2"/>
              <a:buFont typeface="Helvetica Neue"/>
              <a:buNone/>
            </a:pPr>
            <a:r>
              <a:rPr b="1" i="0" lang="en-US" sz="75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VCS node</a:t>
            </a:r>
            <a:endParaRPr b="1" i="0" sz="750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845604" y="3612361"/>
            <a:ext cx="3333900" cy="1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125" lIns="13125" spcFirstLastPara="1" rIns="13125" wrap="square" tIns="13125">
            <a:noAutofit/>
          </a:bodyPr>
          <a:lstStyle/>
          <a:p>
            <a:pPr indent="0" lvl="0" marL="0" marR="0" rtl="0" algn="l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2"/>
              <a:buFont typeface="Helvetica Neue"/>
              <a:buNone/>
            </a:pPr>
            <a:r>
              <a:rPr i="0" lang="en-US" sz="750" u="none" cap="none" strike="noStrike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NXP FRDM-MCXN947 — FlexCAN, PWM, windowed watchdog</a:t>
            </a:r>
            <a:endParaRPr i="0" sz="750" u="none" cap="none" strike="noStrike"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111558" y="3744079"/>
            <a:ext cx="634200" cy="1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125" lIns="13125" spcFirstLastPara="1" rIns="13125" wrap="square" tIns="13125">
            <a:noAutofit/>
          </a:bodyPr>
          <a:lstStyle/>
          <a:p>
            <a:pPr indent="0" lvl="0" marL="0" marR="0" rtl="0" algn="l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2"/>
              <a:buFont typeface="Helvetica Neue"/>
              <a:buNone/>
            </a:pPr>
            <a:r>
              <a:rPr b="1" i="0" lang="en-US" sz="75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Traction</a:t>
            </a:r>
            <a:endParaRPr b="1" i="0" sz="750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845604" y="3744079"/>
            <a:ext cx="3333900" cy="1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125" lIns="13125" spcFirstLastPara="1" rIns="13125" wrap="square" tIns="13125">
            <a:noAutofit/>
          </a:bodyPr>
          <a:lstStyle/>
          <a:p>
            <a:pPr indent="0" lvl="0" marL="0" marR="0" rtl="0" algn="l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2"/>
              <a:buFont typeface="Helvetica Neue"/>
              <a:buNone/>
            </a:pPr>
            <a:r>
              <a:rPr i="0" lang="en-US" sz="750" u="none" cap="none" strike="noStrike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4× TT gear motor 1:48, differential drive</a:t>
            </a:r>
            <a:endParaRPr i="0" sz="750" u="none" cap="none" strike="noStrike"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111558" y="3875796"/>
            <a:ext cx="634200" cy="1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125" lIns="13125" spcFirstLastPara="1" rIns="13125" wrap="square" tIns="13125">
            <a:noAutofit/>
          </a:bodyPr>
          <a:lstStyle/>
          <a:p>
            <a:pPr indent="0" lvl="0" marL="0" marR="0" rtl="0" algn="l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2"/>
              <a:buFont typeface="Helvetica Neue"/>
              <a:buNone/>
            </a:pPr>
            <a:r>
              <a:rPr b="1" i="0" lang="en-US" sz="75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Alerts</a:t>
            </a:r>
            <a:endParaRPr b="1" i="0" sz="750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845604" y="3875796"/>
            <a:ext cx="3333900" cy="1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125" lIns="13125" spcFirstLastPara="1" rIns="13125" wrap="square" tIns="13125">
            <a:noAutofit/>
          </a:bodyPr>
          <a:lstStyle/>
          <a:p>
            <a:pPr indent="0" lvl="0" marL="0" marR="0" rtl="0" algn="l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2"/>
              <a:buFont typeface="Helvetica Neue"/>
              <a:buNone/>
            </a:pPr>
            <a:r>
              <a:rPr i="0" lang="en-US" sz="750" u="none" cap="none" strike="noStrike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Buzzer ≤ 85 dB(A), RGB LED, vibration motor, hazard lamps</a:t>
            </a:r>
            <a:endParaRPr i="0" sz="750" u="none" cap="none" strike="noStrike"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111558" y="4012806"/>
            <a:ext cx="634200" cy="1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125" lIns="13125" spcFirstLastPara="1" rIns="13125" wrap="square" tIns="13125">
            <a:noAutofit/>
          </a:bodyPr>
          <a:lstStyle/>
          <a:p>
            <a:pPr indent="0" lvl="0" marL="0" marR="0" rtl="0" algn="l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2"/>
              <a:buFont typeface="Helvetica Neue"/>
              <a:buNone/>
            </a:pPr>
            <a:r>
              <a:rPr b="1" i="0" lang="en-US" sz="75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Bus</a:t>
            </a:r>
            <a:endParaRPr b="1" i="0" sz="750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845604" y="4012806"/>
            <a:ext cx="3333900" cy="1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125" lIns="13125" spcFirstLastPara="1" rIns="13125" wrap="square" tIns="13125">
            <a:noAutofit/>
          </a:bodyPr>
          <a:lstStyle/>
          <a:p>
            <a:pPr indent="0" lvl="0" marL="0" marR="0" rtl="0" algn="l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2"/>
              <a:buFont typeface="Helvetica Neue"/>
              <a:buNone/>
            </a:pPr>
            <a:r>
              <a:rPr i="0" lang="en-US" sz="750" u="none" cap="none" strike="noStrike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2× CAN transceiver, twisted pair, 500 kbit/s</a:t>
            </a:r>
            <a:endParaRPr i="0" sz="750" u="none" cap="none" strike="noStrike"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111558" y="4149815"/>
            <a:ext cx="634200" cy="1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125" lIns="13125" spcFirstLastPara="1" rIns="13125" wrap="square" tIns="13125">
            <a:noAutofit/>
          </a:bodyPr>
          <a:lstStyle/>
          <a:p>
            <a:pPr indent="0" lvl="0" marL="0" marR="0" rtl="0" algn="l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2"/>
              <a:buFont typeface="Helvetica Neue"/>
              <a:buNone/>
            </a:pPr>
            <a:r>
              <a:rPr b="1" i="0" lang="en-US" sz="75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Safety</a:t>
            </a:r>
            <a:endParaRPr b="1" i="0" sz="750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845604" y="4149815"/>
            <a:ext cx="3333900" cy="1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125" lIns="13125" spcFirstLastPara="1" rIns="13125" wrap="square" tIns="13125">
            <a:noAutofit/>
          </a:bodyPr>
          <a:lstStyle/>
          <a:p>
            <a:pPr indent="0" lvl="0" marL="0" marR="0" rtl="0" algn="l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2"/>
              <a:buFont typeface="Helvetica Neue"/>
              <a:buNone/>
            </a:pPr>
            <a:r>
              <a:rPr i="0" lang="en-US" sz="750" u="none" cap="none" strike="noStrike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Physical e-stop, independent of firmware</a:t>
            </a:r>
            <a:endParaRPr i="0" sz="750" u="none" cap="none" strike="noStrike"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grpSp>
        <p:nvGrpSpPr>
          <p:cNvPr id="64" name="Google Shape;64;p3"/>
          <p:cNvGrpSpPr/>
          <p:nvPr/>
        </p:nvGrpSpPr>
        <p:grpSpPr>
          <a:xfrm>
            <a:off x="111550" y="4341010"/>
            <a:ext cx="3681606" cy="195235"/>
            <a:chOff x="111550" y="4356625"/>
            <a:chExt cx="3681606" cy="195235"/>
          </a:xfrm>
        </p:grpSpPr>
        <p:sp>
          <p:nvSpPr>
            <p:cNvPr id="65" name="Google Shape;65;p3"/>
            <p:cNvSpPr/>
            <p:nvPr/>
          </p:nvSpPr>
          <p:spPr>
            <a:xfrm>
              <a:off x="111558" y="4546941"/>
              <a:ext cx="3681599" cy="492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7200" lIns="47200" spcFirstLastPara="1" rIns="47200" wrap="square" tIns="47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111550" y="4356625"/>
              <a:ext cx="1949100" cy="16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125" lIns="13125" spcFirstLastPara="1" rIns="13125" wrap="square" tIns="13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97"/>
                <a:buFont typeface="Helvetica Neue"/>
                <a:buNone/>
              </a:pPr>
              <a:r>
                <a:rPr lang="en-US" sz="1097">
                  <a:solidFill>
                    <a:schemeClr val="dk1"/>
                  </a:solidFill>
                  <a:latin typeface="Lexend ExtraBold"/>
                  <a:ea typeface="Lexend ExtraBold"/>
                  <a:cs typeface="Lexend ExtraBold"/>
                  <a:sym typeface="Lexend ExtraBold"/>
                </a:rPr>
                <a:t>DETECTION</a:t>
              </a:r>
              <a:r>
                <a:rPr b="1" i="0" lang="en-US" sz="897" u="none" cap="none" strike="noStrike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US" sz="1097">
                  <a:solidFill>
                    <a:schemeClr val="dk1"/>
                  </a:solidFill>
                  <a:latin typeface="Lexend ExtraBold"/>
                  <a:ea typeface="Lexend ExtraBold"/>
                  <a:cs typeface="Lexend ExtraBold"/>
                  <a:sym typeface="Lexend ExtraBold"/>
                </a:rPr>
                <a:t>DOMAINS</a:t>
              </a:r>
              <a:endParaRPr i="0" sz="897" u="none" cap="none" strike="noStrike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endParaRPr>
            </a:p>
          </p:txBody>
        </p:sp>
      </p:grpSp>
      <p:sp>
        <p:nvSpPr>
          <p:cNvPr id="67" name="Google Shape;67;p3"/>
          <p:cNvSpPr/>
          <p:nvPr/>
        </p:nvSpPr>
        <p:spPr>
          <a:xfrm>
            <a:off x="111550" y="4585300"/>
            <a:ext cx="869400" cy="1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125" lIns="13125" spcFirstLastPara="1" rIns="13125" wrap="square" tIns="13125">
            <a:noAutofit/>
          </a:bodyPr>
          <a:lstStyle/>
          <a:p>
            <a:pPr indent="0" lvl="0" marL="0" marR="0" rtl="0" algn="l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2"/>
              <a:buFont typeface="Helvetica Neue"/>
              <a:buNone/>
            </a:pPr>
            <a:r>
              <a:rPr b="1" i="0" lang="en-US" sz="65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D1 Distraction</a:t>
            </a:r>
            <a:endParaRPr b="1" i="0" sz="650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840475" y="4585299"/>
            <a:ext cx="3293100" cy="1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125" lIns="13125" spcFirstLastPara="1" rIns="13125" wrap="square" tIns="13125">
            <a:noAutofit/>
          </a:bodyPr>
          <a:lstStyle/>
          <a:p>
            <a:pPr indent="0" lvl="0" marL="0" marR="0" rtl="0" algn="l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2"/>
              <a:buFont typeface="Helvetica Neue"/>
              <a:buNone/>
            </a:pPr>
            <a:r>
              <a:rPr i="0" lang="en-US" sz="750" u="none" cap="none" strike="noStrike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Head yaw &gt; 30° or pitch-down &gt; 20°, sustained ≥ 2 s</a:t>
            </a:r>
            <a:endParaRPr i="0" sz="750" u="none" cap="none" strike="noStrike"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111558" y="4722913"/>
            <a:ext cx="695400" cy="1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125" lIns="13125" spcFirstLastPara="1" rIns="13125" wrap="square" tIns="13125">
            <a:noAutofit/>
          </a:bodyPr>
          <a:lstStyle/>
          <a:p>
            <a:pPr indent="0" lvl="0" marL="0" marR="0" rtl="0" algn="l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2"/>
              <a:buFont typeface="Helvetica Neue"/>
              <a:buNone/>
            </a:pPr>
            <a:r>
              <a:rPr b="1" i="0" lang="en-US" sz="65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D2 Yawning</a:t>
            </a:r>
            <a:endParaRPr b="1" i="0" sz="650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840475" y="4722913"/>
            <a:ext cx="3293100" cy="1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125" lIns="13125" spcFirstLastPara="1" rIns="13125" wrap="square" tIns="13125">
            <a:noAutofit/>
          </a:bodyPr>
          <a:lstStyle/>
          <a:p>
            <a:pPr indent="0" lvl="0" marL="0" marR="0" rtl="0" algn="l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2"/>
              <a:buFont typeface="Helvetica Neue"/>
              <a:buNone/>
            </a:pPr>
            <a:r>
              <a:rPr i="0" lang="en-US" sz="750" u="none" cap="none" strike="noStrike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Mouth-open episodes ≥ 1.5 s, 2+ in a 120 s window</a:t>
            </a:r>
            <a:endParaRPr i="0" sz="750" u="none" cap="none" strike="noStrike"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111558" y="4855084"/>
            <a:ext cx="695400" cy="1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125" lIns="13125" spcFirstLastPara="1" rIns="13125" wrap="square" tIns="13125">
            <a:noAutofit/>
          </a:bodyPr>
          <a:lstStyle/>
          <a:p>
            <a:pPr indent="0" lvl="0" marL="0" marR="0" rtl="0" algn="l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2"/>
              <a:buFont typeface="Helvetica Neue"/>
              <a:buNone/>
            </a:pPr>
            <a:r>
              <a:rPr b="1" i="0" lang="en-US" sz="65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D3 Eye closure</a:t>
            </a:r>
            <a:endParaRPr b="1" i="0" sz="650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840475" y="4855084"/>
            <a:ext cx="3293100" cy="1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125" lIns="13125" spcFirstLastPara="1" rIns="13125" wrap="square" tIns="13125">
            <a:noAutofit/>
          </a:bodyPr>
          <a:lstStyle/>
          <a:p>
            <a:pPr indent="0" lvl="0" marL="0" marR="0" rtl="0" algn="l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2"/>
              <a:buFont typeface="Helvetica Neue"/>
              <a:buNone/>
            </a:pPr>
            <a:r>
              <a:rPr i="0" lang="en-US" sz="750" u="none" cap="none" strike="noStrike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Continuous closure at 800 / 1500 / 3000 ms → L1 / L2 / L3</a:t>
            </a:r>
            <a:endParaRPr i="0" sz="750" u="none" cap="none" strike="noStrike"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grpSp>
        <p:nvGrpSpPr>
          <p:cNvPr id="73" name="Google Shape;73;p3"/>
          <p:cNvGrpSpPr/>
          <p:nvPr/>
        </p:nvGrpSpPr>
        <p:grpSpPr>
          <a:xfrm>
            <a:off x="111558" y="5114228"/>
            <a:ext cx="3792000" cy="191652"/>
            <a:chOff x="111558" y="5076128"/>
            <a:chExt cx="3792000" cy="191652"/>
          </a:xfrm>
        </p:grpSpPr>
        <p:sp>
          <p:nvSpPr>
            <p:cNvPr id="74" name="Google Shape;74;p3"/>
            <p:cNvSpPr/>
            <p:nvPr/>
          </p:nvSpPr>
          <p:spPr>
            <a:xfrm>
              <a:off x="111558" y="5262980"/>
              <a:ext cx="3681600" cy="48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7200" lIns="47200" spcFirstLastPara="1" rIns="47200" wrap="square" tIns="47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111558" y="5076128"/>
              <a:ext cx="3792000" cy="12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125" lIns="13125" spcFirstLastPara="1" rIns="13125" wrap="square" tIns="13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97"/>
                <a:buFont typeface="Helvetica Neue"/>
                <a:buNone/>
              </a:pPr>
              <a:r>
                <a:rPr lang="en-US" sz="1097">
                  <a:solidFill>
                    <a:schemeClr val="dk1"/>
                  </a:solidFill>
                  <a:latin typeface="Lexend ExtraBold"/>
                  <a:ea typeface="Lexend ExtraBold"/>
                  <a:cs typeface="Lexend ExtraBold"/>
                  <a:sym typeface="Lexend ExtraBold"/>
                </a:rPr>
                <a:t>ALERT</a:t>
              </a:r>
              <a:r>
                <a:rPr b="1" i="0" lang="en-US" sz="897" u="none" cap="none" strike="noStrik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r>
                <a:rPr lang="en-US" sz="1097">
                  <a:solidFill>
                    <a:schemeClr val="dk1"/>
                  </a:solidFill>
                  <a:latin typeface="Lexend ExtraBold"/>
                  <a:ea typeface="Lexend ExtraBold"/>
                  <a:cs typeface="Lexend ExtraBold"/>
                  <a:sym typeface="Lexend ExtraBold"/>
                </a:rPr>
                <a:t>LADDER</a:t>
              </a:r>
              <a:r>
                <a:rPr b="1" i="0" lang="en-US" sz="897" u="none" cap="none" strike="noStrik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r>
                <a:rPr lang="en-US" sz="1097">
                  <a:solidFill>
                    <a:schemeClr val="dk1"/>
                  </a:solidFill>
                  <a:latin typeface="Lexend ExtraBold"/>
                  <a:ea typeface="Lexend ExtraBold"/>
                  <a:cs typeface="Lexend ExtraBold"/>
                  <a:sym typeface="Lexend ExtraBold"/>
                </a:rPr>
                <a:t>&amp; VEHICLE RESPONSE</a:t>
              </a:r>
              <a:endParaRPr sz="1097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endParaRPr>
            </a:p>
          </p:txBody>
        </p:sp>
      </p:grpSp>
      <p:sp>
        <p:nvSpPr>
          <p:cNvPr id="76" name="Google Shape;76;p3"/>
          <p:cNvSpPr/>
          <p:nvPr/>
        </p:nvSpPr>
        <p:spPr>
          <a:xfrm>
            <a:off x="111558" y="5343257"/>
            <a:ext cx="411300" cy="1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125" lIns="13125" spcFirstLastPara="1" rIns="13125" wrap="square" tIns="13125">
            <a:noAutofit/>
          </a:bodyPr>
          <a:lstStyle/>
          <a:p>
            <a:pPr indent="0" lvl="0" marL="0" marR="0" rtl="0" algn="l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rgbClr val="6FE39A"/>
              </a:buClr>
              <a:buSzPts val="542"/>
              <a:buFont typeface="Helvetica Neue"/>
              <a:buNone/>
            </a:pPr>
            <a:r>
              <a:rPr i="0" lang="en-US" sz="750" u="none" cap="none" strike="noStrike">
                <a:solidFill>
                  <a:srgbClr val="38761D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rPr>
              <a:t>L0</a:t>
            </a:r>
            <a:endParaRPr i="0" sz="750" u="none" cap="none" strike="noStrike">
              <a:solidFill>
                <a:srgbClr val="38761D"/>
              </a:solidFill>
              <a:latin typeface="JetBrains Mono ExtraBold"/>
              <a:ea typeface="JetBrains Mono ExtraBold"/>
              <a:cs typeface="JetBrains Mono ExtraBold"/>
              <a:sym typeface="JetBrains Mono ExtraBold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396028" y="5343257"/>
            <a:ext cx="3579600" cy="1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125" lIns="13125" spcFirstLastPara="1" rIns="13125" wrap="square" tIns="13125">
            <a:noAutofit/>
          </a:bodyPr>
          <a:lstStyle/>
          <a:p>
            <a:pPr indent="0" lvl="0" marL="0" marR="0" rtl="0" algn="l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2"/>
              <a:buFont typeface="Helvetica Neue"/>
              <a:buNone/>
            </a:pPr>
            <a:r>
              <a:rPr i="0" lang="en-US" sz="750" u="none" cap="none" strike="noStrike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Silent, green LED, 100 % speed</a:t>
            </a:r>
            <a:endParaRPr i="0" sz="750" u="none" cap="none" strike="noStrike"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111558" y="5459099"/>
            <a:ext cx="411300" cy="1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125" lIns="13125" spcFirstLastPara="1" rIns="13125" wrap="square" tIns="13125">
            <a:noAutofit/>
          </a:bodyPr>
          <a:lstStyle/>
          <a:p>
            <a:pPr indent="0" lvl="0" marL="0" marR="0" rtl="0" algn="l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rgbClr val="F4C56A"/>
              </a:buClr>
              <a:buSzPts val="542"/>
              <a:buFont typeface="Helvetica Neue"/>
              <a:buNone/>
            </a:pPr>
            <a:r>
              <a:rPr i="0" lang="en-US" sz="750" u="none" cap="none" strike="noStrike">
                <a:solidFill>
                  <a:srgbClr val="BF9000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rPr>
              <a:t>L1</a:t>
            </a:r>
            <a:endParaRPr i="0" sz="750" u="none" cap="none" strike="noStrike">
              <a:solidFill>
                <a:srgbClr val="BF9000"/>
              </a:solidFill>
              <a:latin typeface="JetBrains Mono ExtraBold"/>
              <a:ea typeface="JetBrains Mono ExtraBold"/>
              <a:cs typeface="JetBrains Mono ExtraBold"/>
              <a:sym typeface="JetBrains Mono ExtraBold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396028" y="5459099"/>
            <a:ext cx="3579600" cy="1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125" lIns="13125" spcFirstLastPara="1" rIns="13125" wrap="square" tIns="13125">
            <a:noAutofit/>
          </a:bodyPr>
          <a:lstStyle/>
          <a:p>
            <a:pPr indent="0" lvl="0" marL="0" marR="0" rtl="0" algn="l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2"/>
              <a:buFont typeface="Helvetica Neue"/>
              <a:buNone/>
            </a:pPr>
            <a:r>
              <a:rPr i="0" lang="en-US" sz="750" u="none" cap="none" strike="noStrike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Soft pulse alert, amber LED, 80 % speed cap</a:t>
            </a:r>
            <a:endParaRPr i="0" sz="750" u="none" cap="none" strike="noStrike"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111558" y="5574942"/>
            <a:ext cx="411300" cy="1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125" lIns="13125" spcFirstLastPara="1" rIns="13125" wrap="square" tIns="13125">
            <a:noAutofit/>
          </a:bodyPr>
          <a:lstStyle/>
          <a:p>
            <a:pPr indent="0" lvl="0" marL="0" marR="0" rtl="0" algn="l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rgbClr val="F0925A"/>
              </a:buClr>
              <a:buSzPts val="542"/>
              <a:buFont typeface="Helvetica Neue"/>
              <a:buNone/>
            </a:pPr>
            <a:r>
              <a:rPr i="0" lang="en-US" sz="750" u="none" cap="none" strike="noStrike">
                <a:solidFill>
                  <a:srgbClr val="B45F06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rPr>
              <a:t>L2</a:t>
            </a:r>
            <a:endParaRPr i="0" sz="750" u="none" cap="none" strike="noStrike">
              <a:solidFill>
                <a:srgbClr val="B45F06"/>
              </a:solidFill>
              <a:latin typeface="JetBrains Mono ExtraBold"/>
              <a:ea typeface="JetBrains Mono ExtraBold"/>
              <a:cs typeface="JetBrains Mono ExtraBold"/>
              <a:sym typeface="JetBrains Mono ExtraBold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396028" y="5574942"/>
            <a:ext cx="3579600" cy="1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125" lIns="13125" spcFirstLastPara="1" rIns="13125" wrap="square" tIns="13125">
            <a:noAutofit/>
          </a:bodyPr>
          <a:lstStyle/>
          <a:p>
            <a:pPr indent="0" lvl="0" marL="0" marR="0" rtl="0" algn="l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2"/>
              <a:buFont typeface="Helvetica Neue"/>
              <a:buNone/>
            </a:pPr>
            <a:r>
              <a:rPr i="0" lang="en-US" sz="750" u="none" cap="none" strike="noStrike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Continuous tone, vibration, fan, 50 % speed cap</a:t>
            </a:r>
            <a:endParaRPr i="0" sz="750" u="none" cap="none" strike="noStrike"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111558" y="5690784"/>
            <a:ext cx="411300" cy="1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125" lIns="13125" spcFirstLastPara="1" rIns="13125" wrap="square" tIns="13125">
            <a:noAutofit/>
          </a:bodyPr>
          <a:lstStyle/>
          <a:p>
            <a:pPr indent="0" lvl="0" marL="0" marR="0" rtl="0" algn="l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rgbClr val="F17A6C"/>
              </a:buClr>
              <a:buSzPts val="542"/>
              <a:buFont typeface="Helvetica Neue"/>
              <a:buNone/>
            </a:pPr>
            <a:r>
              <a:rPr i="0" lang="en-US" sz="750" u="none" cap="none" strike="noStrike">
                <a:solidFill>
                  <a:srgbClr val="990000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rPr>
              <a:t>L3</a:t>
            </a:r>
            <a:endParaRPr i="0" sz="750" u="none" cap="none" strike="noStrike">
              <a:solidFill>
                <a:srgbClr val="990000"/>
              </a:solidFill>
              <a:latin typeface="JetBrains Mono ExtraBold"/>
              <a:ea typeface="JetBrains Mono ExtraBold"/>
              <a:cs typeface="JetBrains Mono ExtraBold"/>
              <a:sym typeface="JetBrains Mono ExtraBold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396028" y="5690784"/>
            <a:ext cx="3579600" cy="1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125" lIns="13125" spcFirstLastPara="1" rIns="13125" wrap="square" tIns="13125">
            <a:noAutofit/>
          </a:bodyPr>
          <a:lstStyle/>
          <a:p>
            <a:pPr indent="0" lvl="0" marL="0" marR="0" rtl="0" algn="l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2"/>
              <a:buFont typeface="Helvetica Neue"/>
              <a:buNone/>
            </a:pPr>
            <a:r>
              <a:rPr i="0" lang="en-US" sz="750" u="none" cap="none" strike="noStrike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Alternating alarm, safe stop in 2.0 s, hazards latched</a:t>
            </a:r>
            <a:endParaRPr i="0" sz="750" u="none" cap="none" strike="noStrike"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grpSp>
        <p:nvGrpSpPr>
          <p:cNvPr id="84" name="Google Shape;84;p3"/>
          <p:cNvGrpSpPr/>
          <p:nvPr/>
        </p:nvGrpSpPr>
        <p:grpSpPr>
          <a:xfrm>
            <a:off x="111550" y="5868942"/>
            <a:ext cx="3792000" cy="192246"/>
            <a:chOff x="111550" y="5847170"/>
            <a:chExt cx="3792000" cy="192246"/>
          </a:xfrm>
        </p:grpSpPr>
        <p:sp>
          <p:nvSpPr>
            <p:cNvPr id="85" name="Google Shape;85;p3"/>
            <p:cNvSpPr/>
            <p:nvPr/>
          </p:nvSpPr>
          <p:spPr>
            <a:xfrm>
              <a:off x="111558" y="6034616"/>
              <a:ext cx="3681600" cy="48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7200" lIns="47200" spcFirstLastPara="1" rIns="47200" wrap="square" tIns="47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111550" y="5847170"/>
              <a:ext cx="3792000" cy="16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125" lIns="13125" spcFirstLastPara="1" rIns="13125" wrap="square" tIns="13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97"/>
                <a:buFont typeface="Helvetica Neue"/>
                <a:buNone/>
              </a:pPr>
              <a:r>
                <a:rPr lang="en-US" sz="1097">
                  <a:solidFill>
                    <a:schemeClr val="dk1"/>
                  </a:solidFill>
                  <a:latin typeface="Lexend ExtraBold"/>
                  <a:ea typeface="Lexend ExtraBold"/>
                  <a:cs typeface="Lexend ExtraBold"/>
                  <a:sym typeface="Lexend ExtraBold"/>
                </a:rPr>
                <a:t>VERIFICATION TARGETS</a:t>
              </a:r>
              <a:endParaRPr b="0" i="0" sz="89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3"/>
          <p:cNvSpPr/>
          <p:nvPr/>
        </p:nvSpPr>
        <p:spPr>
          <a:xfrm>
            <a:off x="111553" y="6090400"/>
            <a:ext cx="1892400" cy="1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125" lIns="13125" spcFirstLastPara="1" rIns="13125" wrap="square" tIns="13125">
            <a:noAutofit/>
          </a:bodyPr>
          <a:lstStyle/>
          <a:p>
            <a:pPr indent="0" lvl="0" marL="0" marR="0" rtl="0" algn="l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2"/>
              <a:buFont typeface="Helvetica Neue"/>
              <a:buNone/>
            </a:pPr>
            <a:r>
              <a:rPr i="0" lang="en-US" sz="750" u="none" cap="none" strike="noStrike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Off-road detection, held-out corpus</a:t>
            </a:r>
            <a:endParaRPr i="0" sz="750" u="none" cap="none" strike="noStrike"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2218182" y="6101673"/>
            <a:ext cx="717000" cy="1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125" lIns="13125" spcFirstLastPara="1" rIns="13125" wrap="square" tIns="13125">
            <a:noAutofit/>
          </a:bodyPr>
          <a:lstStyle/>
          <a:p>
            <a:pPr indent="0" lvl="0" marL="0" marR="0" rtl="0" algn="l">
              <a:lnSpc>
                <a:spcPct val="972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2"/>
              <a:buFont typeface="JetBrains Mono"/>
              <a:buNone/>
            </a:pPr>
            <a:r>
              <a:rPr b="1" i="0" lang="en-US" sz="75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TPR ≥ 0.90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111553" y="6229689"/>
            <a:ext cx="1914300" cy="1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125" lIns="13125" spcFirstLastPara="1" rIns="13125" wrap="square" tIns="13125">
            <a:noAutofit/>
          </a:bodyPr>
          <a:lstStyle/>
          <a:p>
            <a:pPr indent="0" lvl="0" marL="0" marR="0" rtl="0" algn="l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2"/>
              <a:buFont typeface="Helvetica Neue"/>
              <a:buNone/>
            </a:pPr>
            <a:r>
              <a:rPr i="0" lang="en-US" sz="750" u="none" cap="none" strike="noStrike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Yawn detection, held-out corpuzs</a:t>
            </a:r>
            <a:endParaRPr i="0" sz="750" u="none" cap="none" strike="noStrike"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2227713" y="6240696"/>
            <a:ext cx="717000" cy="1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125" lIns="13125" spcFirstLastPara="1" rIns="13125" wrap="square" tIns="13125">
            <a:noAutofit/>
          </a:bodyPr>
          <a:lstStyle/>
          <a:p>
            <a:pPr indent="0" lvl="0" marL="0" marR="0" rtl="0" algn="l">
              <a:lnSpc>
                <a:spcPct val="972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2"/>
              <a:buFont typeface="JetBrains Mono"/>
              <a:buNone/>
            </a:pPr>
            <a:r>
              <a:rPr b="1" i="0" lang="en-US" sz="75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F1 ≥ 0.85z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111553" y="6363536"/>
            <a:ext cx="2066700" cy="1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125" lIns="13125" spcFirstLastPara="1" rIns="13125" wrap="square" tIns="13125">
            <a:noAutofit/>
          </a:bodyPr>
          <a:lstStyle/>
          <a:p>
            <a:pPr indent="0" lvl="0" marL="0" marR="0" rtl="0" algn="l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2"/>
              <a:buFont typeface="Helvetica Neue"/>
              <a:buNone/>
            </a:pPr>
            <a:r>
              <a:rPr i="0" lang="en-US" sz="750" u="none" cap="none" strike="noStrike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False alarms, awake-driver baseline</a:t>
            </a:r>
            <a:endParaRPr i="0" sz="750" u="none" cap="none" strike="noStrike"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2223621" y="6376353"/>
            <a:ext cx="536100" cy="1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125" lIns="13125" spcFirstLastPara="1" rIns="13125" wrap="square" tIns="13125">
            <a:noAutofit/>
          </a:bodyPr>
          <a:lstStyle/>
          <a:p>
            <a:pPr indent="0" lvl="0" marL="0" marR="0" rtl="0" algn="l">
              <a:lnSpc>
                <a:spcPct val="972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2"/>
              <a:buFont typeface="JetBrains Mono"/>
              <a:buNone/>
            </a:pPr>
            <a:r>
              <a:rPr b="1" i="0" lang="en-US" sz="75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≤ 1 / h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111553" y="6502825"/>
            <a:ext cx="1968600" cy="1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125" lIns="13125" spcFirstLastPara="1" rIns="13125" wrap="square" tIns="13125">
            <a:noAutofit/>
          </a:bodyPr>
          <a:lstStyle/>
          <a:p>
            <a:pPr indent="0" lvl="0" marL="0" marR="0" rtl="0" algn="l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2"/>
              <a:buFont typeface="Helvetica Neue"/>
              <a:buNone/>
            </a:pPr>
            <a:r>
              <a:rPr i="0" lang="en-US" sz="750" u="none" cap="none" strike="noStrike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Safe-stop ramp from L3 receipt</a:t>
            </a:r>
            <a:endParaRPr i="0" sz="750" u="none" cap="none" strike="noStrike"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2224919" y="6511186"/>
            <a:ext cx="717000" cy="1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125" lIns="13125" spcFirstLastPara="1" rIns="13125" wrap="square" tIns="13125">
            <a:noAutofit/>
          </a:bodyPr>
          <a:lstStyle/>
          <a:p>
            <a:pPr indent="0" lvl="0" marL="0" marR="0" rtl="0" algn="l">
              <a:lnSpc>
                <a:spcPct val="972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2"/>
              <a:buFont typeface="JetBrains Mono"/>
              <a:buNone/>
            </a:pPr>
            <a:r>
              <a:rPr b="1" i="0" lang="en-US" sz="75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2.0 ± 0.1 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111558" y="6890109"/>
            <a:ext cx="3681600" cy="4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7200" lIns="47200" spcFirstLastPara="1" rIns="47200" wrap="square" tIns="47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6" name="Google Shape;96;p3"/>
          <p:cNvSpPr/>
          <p:nvPr/>
        </p:nvSpPr>
        <p:spPr>
          <a:xfrm>
            <a:off x="111550" y="6702436"/>
            <a:ext cx="37920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125" lIns="13125" spcFirstLastPara="1" rIns="13125" wrap="square" tIns="13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97"/>
              <a:buFont typeface="Helvetica Neue"/>
              <a:buNone/>
            </a:pPr>
            <a:r>
              <a:rPr lang="en-US" sz="1097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NEXT DEVELOPMENT DIRECTION</a:t>
            </a:r>
            <a:endParaRPr b="0" i="0" sz="8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111550" y="6941220"/>
            <a:ext cx="4857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3125" lIns="13125" spcFirstLastPara="1" rIns="13125" wrap="square" tIns="13125">
            <a:noAutofit/>
          </a:bodyPr>
          <a:lstStyle/>
          <a:p>
            <a:pPr indent="0" lvl="0" marL="0" marR="0" rtl="0" algn="l">
              <a:lnSpc>
                <a:spcPct val="97222"/>
              </a:lnSpc>
              <a:spcBef>
                <a:spcPts val="0"/>
              </a:spcBef>
              <a:spcAft>
                <a:spcPts val="0"/>
              </a:spcAft>
              <a:buClr>
                <a:srgbClr val="7FB8F5"/>
              </a:buClr>
              <a:buSzPts val="542"/>
              <a:buFont typeface="JetBrains Mono"/>
              <a:buNone/>
            </a:pPr>
            <a:r>
              <a:rPr b="1" i="0" lang="en-US" sz="750" u="none" cap="none" strike="noStrike">
                <a:solidFill>
                  <a:srgbClr val="4C113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STEP 1</a:t>
            </a:r>
            <a:endParaRPr b="0" i="0" sz="750" u="none" cap="none" strike="noStrike">
              <a:solidFill>
                <a:srgbClr val="4C11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613501" y="6937130"/>
            <a:ext cx="32490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3125" lIns="13125" spcFirstLastPara="1" rIns="13125" wrap="square" tIns="13125">
            <a:noAutofit/>
          </a:bodyPr>
          <a:lstStyle/>
          <a:p>
            <a:pPr indent="0" lvl="0" marL="0" marR="0" rtl="0" algn="l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2"/>
              <a:buFont typeface="Helvetica Neue"/>
              <a:buNone/>
            </a:pPr>
            <a:r>
              <a:rPr b="1" i="0" lang="en-US" sz="75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Bring up hardware and re-measure every budget on this sheet against real timing</a:t>
            </a:r>
            <a:endParaRPr b="1" i="0" sz="750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111550" y="7208073"/>
            <a:ext cx="4857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3125" lIns="13125" spcFirstLastPara="1" rIns="13125" wrap="square" tIns="13125">
            <a:noAutofit/>
          </a:bodyPr>
          <a:lstStyle/>
          <a:p>
            <a:pPr indent="0" lvl="0" marL="0" marR="0" rtl="0" algn="l">
              <a:lnSpc>
                <a:spcPct val="97222"/>
              </a:lnSpc>
              <a:spcBef>
                <a:spcPts val="0"/>
              </a:spcBef>
              <a:spcAft>
                <a:spcPts val="0"/>
              </a:spcAft>
              <a:buClr>
                <a:srgbClr val="7FB8F5"/>
              </a:buClr>
              <a:buSzPts val="542"/>
              <a:buFont typeface="JetBrains Mono"/>
              <a:buNone/>
            </a:pPr>
            <a:r>
              <a:rPr b="1" i="0" lang="en-US" sz="750" u="none" cap="none" strike="noStrike">
                <a:solidFill>
                  <a:srgbClr val="4C113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STEP 2</a:t>
            </a:r>
            <a:endParaRPr b="0" i="0" sz="750" u="none" cap="none" strike="noStrike">
              <a:solidFill>
                <a:srgbClr val="4C11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613501" y="7203975"/>
            <a:ext cx="31797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3125" lIns="13125" spcFirstLastPara="1" rIns="13125" wrap="square" tIns="13125">
            <a:noAutofit/>
          </a:bodyPr>
          <a:lstStyle/>
          <a:p>
            <a:pPr indent="0" lvl="0" marL="0" marR="0" rtl="0" algn="l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2"/>
              <a:buFont typeface="Helvetica Neue"/>
              <a:buNone/>
            </a:pPr>
            <a:r>
              <a:rPr b="1" i="0" lang="en-US" sz="75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Re-tune the three detection thresholds on the team's own annotated driver corpus</a:t>
            </a:r>
            <a:endParaRPr b="1" i="0" sz="750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111550" y="7470837"/>
            <a:ext cx="4857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3125" lIns="13125" spcFirstLastPara="1" rIns="13125" wrap="square" tIns="13125">
            <a:noAutofit/>
          </a:bodyPr>
          <a:lstStyle/>
          <a:p>
            <a:pPr indent="0" lvl="0" marL="0" marR="0" rtl="0" algn="l">
              <a:lnSpc>
                <a:spcPct val="97222"/>
              </a:lnSpc>
              <a:spcBef>
                <a:spcPts val="0"/>
              </a:spcBef>
              <a:spcAft>
                <a:spcPts val="0"/>
              </a:spcAft>
              <a:buClr>
                <a:srgbClr val="7FB8F5"/>
              </a:buClr>
              <a:buSzPts val="542"/>
              <a:buFont typeface="JetBrains Mono"/>
              <a:buNone/>
            </a:pPr>
            <a:r>
              <a:rPr b="1" i="0" lang="en-US" sz="750" u="none" cap="none" strike="noStrike">
                <a:solidFill>
                  <a:srgbClr val="4C113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STEP 3</a:t>
            </a:r>
            <a:endParaRPr b="0" i="0" sz="750" u="none" cap="none" strike="noStrike">
              <a:solidFill>
                <a:srgbClr val="4C11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613501" y="7466755"/>
            <a:ext cx="31797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3125" lIns="13125" spcFirstLastPara="1" rIns="13125" wrap="square" tIns="13125">
            <a:noAutofit/>
          </a:bodyPr>
          <a:lstStyle/>
          <a:p>
            <a:pPr indent="0" lvl="0" marL="0" marR="0" rtl="0" algn="l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2"/>
              <a:buFont typeface="Helvetica Neue"/>
              <a:buNone/>
            </a:pPr>
            <a:r>
              <a:rPr b="1" i="0" lang="en-US" sz="75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Run the full nine-area test plan on hardware and move every DESIGNED figure to VERIFIED</a:t>
            </a:r>
            <a:endParaRPr b="1" i="0" sz="750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111550" y="7736890"/>
            <a:ext cx="4857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3125" lIns="13125" spcFirstLastPara="1" rIns="13125" wrap="square" tIns="13125">
            <a:noAutofit/>
          </a:bodyPr>
          <a:lstStyle/>
          <a:p>
            <a:pPr indent="0" lvl="0" marL="0" marR="0" rtl="0" algn="l">
              <a:lnSpc>
                <a:spcPct val="97222"/>
              </a:lnSpc>
              <a:spcBef>
                <a:spcPts val="0"/>
              </a:spcBef>
              <a:spcAft>
                <a:spcPts val="0"/>
              </a:spcAft>
              <a:buClr>
                <a:srgbClr val="7FB8F5"/>
              </a:buClr>
              <a:buSzPts val="542"/>
              <a:buFont typeface="JetBrains Mono"/>
              <a:buNone/>
            </a:pPr>
            <a:r>
              <a:rPr b="1" i="0" lang="en-US" sz="750" u="none" cap="none" strike="noStrike">
                <a:solidFill>
                  <a:srgbClr val="4C113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STEP 4</a:t>
            </a:r>
            <a:endParaRPr b="0" i="0" sz="750" u="none" cap="none" strike="noStrike">
              <a:solidFill>
                <a:srgbClr val="4C11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613500" y="7732805"/>
            <a:ext cx="3249000" cy="1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13125" lIns="13125" spcFirstLastPara="1" rIns="13125" wrap="square" tIns="13125">
            <a:noAutofit/>
          </a:bodyPr>
          <a:lstStyle/>
          <a:p>
            <a:pPr indent="0" lvl="0" marL="0" marR="0" rtl="0" algn="l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2"/>
              <a:buFont typeface="Helvetica Neue"/>
              <a:buNone/>
            </a:pPr>
            <a:r>
              <a:rPr b="1" i="0" lang="en-US" sz="75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Extend from a scale-vehicle simulator toward a real-vehicle CAN integration path</a:t>
            </a:r>
            <a:endParaRPr b="1" i="0" sz="750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111558" y="8025243"/>
            <a:ext cx="3681600" cy="4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7200" lIns="47200" spcFirstLastPara="1" rIns="47200" wrap="square" tIns="47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06" name="Google Shape;106;p3"/>
          <p:cNvSpPr/>
          <p:nvPr/>
        </p:nvSpPr>
        <p:spPr>
          <a:xfrm>
            <a:off x="111550" y="8055049"/>
            <a:ext cx="37920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13125" lIns="13125" spcFirstLastPara="1" rIns="13125" wrap="square" tIns="13125">
            <a:noAutofit/>
          </a:bodyPr>
          <a:lstStyle/>
          <a:p>
            <a:pPr indent="0" lvl="0" marL="0" marR="0" rtl="0" algn="l">
              <a:lnSpc>
                <a:spcPct val="1176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91"/>
              <a:buFont typeface="Helvetica Neue"/>
              <a:buNone/>
            </a:pPr>
            <a:r>
              <a:rPr i="0" lang="en-US" sz="691" u="none" cap="none" strike="noStrike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DrowsyGuard is a research demonstrator. The scale vehicle is a simulator. No claim of ISO 26262 / ASIL compliance is made.</a:t>
            </a:r>
            <a:endParaRPr i="0" sz="691" u="none" cap="none" strike="noStrike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3996625" y="798150"/>
            <a:ext cx="8031000" cy="3786900"/>
          </a:xfrm>
          <a:prstGeom prst="roundRect">
            <a:avLst>
              <a:gd fmla="val 5197" name="adj"/>
            </a:avLst>
          </a:prstGeom>
          <a:solidFill>
            <a:srgbClr val="C9DAF8"/>
          </a:solidFill>
          <a:ln cap="flat" cmpd="sng" w="4925">
            <a:solidFill>
              <a:srgbClr val="B9C0D6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7200" lIns="47200" spcFirstLastPara="1" rIns="47200" wrap="square" tIns="47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08" name="Google Shape;108;p3"/>
          <p:cNvSpPr/>
          <p:nvPr/>
        </p:nvSpPr>
        <p:spPr>
          <a:xfrm>
            <a:off x="4128220" y="955792"/>
            <a:ext cx="2868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3125" lIns="13125" spcFirstLastPara="1" rIns="13125" wrap="square" tIns="13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3C"/>
              </a:buClr>
              <a:buSzPts val="775"/>
              <a:buFont typeface="Helvetica Neue"/>
              <a:buNone/>
            </a:pPr>
            <a:r>
              <a:rPr i="0" lang="en-US" sz="1675" u="none" cap="none" strike="noStrike">
                <a:solidFill>
                  <a:srgbClr val="14143C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rPr>
              <a:t>SYSTEM ARCHITECTURE</a:t>
            </a:r>
            <a:endParaRPr i="0" sz="1675" u="none" cap="none" strike="noStrike">
              <a:solidFill>
                <a:schemeClr val="dk1"/>
              </a:solidFill>
              <a:latin typeface="JetBrains Mono ExtraBold"/>
              <a:ea typeface="JetBrains Mono ExtraBold"/>
              <a:cs typeface="JetBrains Mono ExtraBold"/>
              <a:sym typeface="JetBrains Mono ExtraBold"/>
            </a:endParaRPr>
          </a:p>
        </p:txBody>
      </p:sp>
      <p:pic>
        <p:nvPicPr>
          <p:cNvPr descr="preencoded.png" id="109" name="Google Shape;109;p3"/>
          <p:cNvPicPr preferRelativeResize="0"/>
          <p:nvPr/>
        </p:nvPicPr>
        <p:blipFill rotWithShape="1">
          <a:blip r:embed="rId4">
            <a:alphaModFix/>
          </a:blip>
          <a:srcRect b="0" l="-1" r="-1" t="0"/>
          <a:stretch/>
        </p:blipFill>
        <p:spPr>
          <a:xfrm>
            <a:off x="12084150" y="798144"/>
            <a:ext cx="3002224" cy="225337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10" name="Google Shape;110;p3"/>
          <p:cNvPicPr preferRelativeResize="0"/>
          <p:nvPr/>
        </p:nvPicPr>
        <p:blipFill rotWithShape="1">
          <a:blip r:embed="rId5">
            <a:alphaModFix/>
          </a:blip>
          <a:srcRect b="10680" l="1347" r="2425" t="7232"/>
          <a:stretch/>
        </p:blipFill>
        <p:spPr>
          <a:xfrm>
            <a:off x="4034425" y="1357885"/>
            <a:ext cx="7993174" cy="3024724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/>
          <p:nvPr/>
        </p:nvSpPr>
        <p:spPr>
          <a:xfrm>
            <a:off x="11839425" y="4585274"/>
            <a:ext cx="4063500" cy="1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125" lIns="13125" spcFirstLastPara="1" rIns="13125" wrap="square" tIns="13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43C"/>
              </a:buClr>
              <a:buSzPts val="491"/>
              <a:buFont typeface="JetBrains Mono"/>
              <a:buNone/>
            </a:pPr>
            <a:r>
              <a:rPr b="1" i="0" lang="en-US" sz="491" u="none" cap="none" strike="noStrike">
                <a:solidFill>
                  <a:srgbClr val="1414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L1 — EYES ON THE ROAD</a:t>
            </a:r>
            <a:endParaRPr b="0" i="0" sz="4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2" name="Google Shape;112;p3"/>
          <p:cNvPicPr preferRelativeResize="0"/>
          <p:nvPr/>
        </p:nvPicPr>
        <p:blipFill rotWithShape="1">
          <a:blip r:embed="rId6">
            <a:alphaModFix/>
          </a:blip>
          <a:srcRect b="0" l="-1" r="-1" t="0"/>
          <a:stretch/>
        </p:blipFill>
        <p:spPr>
          <a:xfrm>
            <a:off x="12084164" y="3336170"/>
            <a:ext cx="3002224" cy="225220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descr="preencoded.png" id="113" name="Google Shape;113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084150" y="5884043"/>
            <a:ext cx="3002227" cy="2217173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14" name="Google Shape;114;p3"/>
          <p:cNvSpPr/>
          <p:nvPr/>
        </p:nvSpPr>
        <p:spPr>
          <a:xfrm>
            <a:off x="12208800" y="8135675"/>
            <a:ext cx="28125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3125" lIns="13125" spcFirstLastPara="1" rIns="13125" wrap="square" tIns="13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43C"/>
              </a:buClr>
              <a:buSzPts val="491"/>
              <a:buFont typeface="JetBrains Mono"/>
              <a:buNone/>
            </a:pPr>
            <a:r>
              <a:rPr b="1" lang="en-US" sz="1091">
                <a:solidFill>
                  <a:srgbClr val="1414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DOWNSINESS LEVEL 3 - HIGH ALERT</a:t>
            </a:r>
            <a:endParaRPr b="0" i="0" sz="10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7895100" y="8175275"/>
            <a:ext cx="41325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3125" lIns="13125" spcFirstLastPara="1" rIns="13125" wrap="square" tIns="13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43C"/>
              </a:buClr>
              <a:buSzPts val="491"/>
              <a:buFont typeface="JetBrains Mono"/>
              <a:buNone/>
            </a:pPr>
            <a:r>
              <a:rPr b="1" lang="en-US" sz="1091">
                <a:solidFill>
                  <a:srgbClr val="1414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PRODUCT HARDWARE PHOTO</a:t>
            </a:r>
            <a:endParaRPr b="1" i="0" sz="10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6" name="Google Shape;116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895100" y="4669000"/>
            <a:ext cx="4132577" cy="3448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17" name="Google Shape;117;p3"/>
          <p:cNvSpPr/>
          <p:nvPr/>
        </p:nvSpPr>
        <p:spPr>
          <a:xfrm>
            <a:off x="12138775" y="5632738"/>
            <a:ext cx="28125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3125" lIns="13125" spcFirstLastPara="1" rIns="13125" wrap="square" tIns="13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43C"/>
              </a:buClr>
              <a:buSzPts val="491"/>
              <a:buFont typeface="JetBrains Mono"/>
              <a:buNone/>
            </a:pPr>
            <a:r>
              <a:rPr b="1" lang="en-US" sz="1091">
                <a:solidFill>
                  <a:srgbClr val="1414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DOWNSINESS LEVEL 2 - </a:t>
            </a:r>
            <a:r>
              <a:rPr b="1" lang="en-US" sz="1091">
                <a:solidFill>
                  <a:srgbClr val="1414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WARNING</a:t>
            </a:r>
            <a:endParaRPr b="0" i="0" sz="10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12131625" y="3076663"/>
            <a:ext cx="28125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3125" lIns="13125" spcFirstLastPara="1" rIns="13125" wrap="square" tIns="13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43C"/>
              </a:buClr>
              <a:buSzPts val="491"/>
              <a:buFont typeface="JetBrains Mono"/>
              <a:buNone/>
            </a:pPr>
            <a:r>
              <a:rPr b="1" lang="en-US" sz="1091">
                <a:solidFill>
                  <a:srgbClr val="1414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DOWNSINESS LEVEL 1 - </a:t>
            </a:r>
            <a:r>
              <a:rPr b="1" lang="en-US" sz="1091">
                <a:solidFill>
                  <a:srgbClr val="1414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SOFT WARNING</a:t>
            </a:r>
            <a:endParaRPr b="0" i="0" sz="10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3"/>
          <p:cNvPicPr preferRelativeResize="0"/>
          <p:nvPr/>
        </p:nvPicPr>
        <p:blipFill rotWithShape="1">
          <a:blip r:embed="rId9">
            <a:alphaModFix/>
          </a:blip>
          <a:srcRect b="3708" l="30896" r="0" t="26977"/>
          <a:stretch/>
        </p:blipFill>
        <p:spPr>
          <a:xfrm>
            <a:off x="5931182" y="6366050"/>
            <a:ext cx="1849800" cy="1700327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20" name="Google Shape;120;p3"/>
          <p:cNvSpPr/>
          <p:nvPr/>
        </p:nvSpPr>
        <p:spPr>
          <a:xfrm>
            <a:off x="4002725" y="8176825"/>
            <a:ext cx="38466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3125" lIns="13125" spcFirstLastPara="1" rIns="13125" wrap="square" tIns="13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43C"/>
              </a:buClr>
              <a:buSzPts val="491"/>
              <a:buFont typeface="JetBrains Mono"/>
              <a:buNone/>
            </a:pPr>
            <a:r>
              <a:rPr b="1" lang="en-US" sz="1091">
                <a:solidFill>
                  <a:srgbClr val="1414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DEMO MODEL</a:t>
            </a:r>
            <a:endParaRPr b="1" i="0" sz="10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13657000" y="214675"/>
            <a:ext cx="1386600" cy="2985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3"/>
          <p:cNvPicPr preferRelativeResize="0"/>
          <p:nvPr/>
        </p:nvPicPr>
        <p:blipFill rotWithShape="1">
          <a:blip r:embed="rId10">
            <a:alphaModFix/>
          </a:blip>
          <a:srcRect b="0" l="24202" r="0" t="16778"/>
          <a:stretch/>
        </p:blipFill>
        <p:spPr>
          <a:xfrm>
            <a:off x="5946480" y="4788437"/>
            <a:ext cx="1861950" cy="15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3"/>
          <p:cNvPicPr preferRelativeResize="0"/>
          <p:nvPr/>
        </p:nvPicPr>
        <p:blipFill rotWithShape="1">
          <a:blip r:embed="rId11">
            <a:alphaModFix/>
          </a:blip>
          <a:srcRect b="0" l="27315" r="0" t="16486"/>
          <a:stretch/>
        </p:blipFill>
        <p:spPr>
          <a:xfrm>
            <a:off x="3984865" y="6365474"/>
            <a:ext cx="1849800" cy="169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3"/>
          <p:cNvPicPr preferRelativeResize="0"/>
          <p:nvPr/>
        </p:nvPicPr>
        <p:blipFill rotWithShape="1">
          <a:blip r:embed="rId12">
            <a:alphaModFix/>
          </a:blip>
          <a:srcRect b="0" l="23920" r="0" t="14398"/>
          <a:stretch/>
        </p:blipFill>
        <p:spPr>
          <a:xfrm>
            <a:off x="4010997" y="4788447"/>
            <a:ext cx="1830130" cy="15363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5" name="Google Shape;125;p3"/>
          <p:cNvPicPr preferRelativeResize="0"/>
          <p:nvPr/>
        </p:nvPicPr>
        <p:blipFill rotWithShape="1">
          <a:blip r:embed="rId13">
            <a:alphaModFix/>
          </a:blip>
          <a:srcRect b="0" l="-2" r="-2" t="0"/>
          <a:stretch/>
        </p:blipFill>
        <p:spPr>
          <a:xfrm>
            <a:off x="13674397" y="241205"/>
            <a:ext cx="1386600" cy="2556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